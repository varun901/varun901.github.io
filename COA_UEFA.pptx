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66" r:id="rId3"/>
    <p:sldId id="257" r:id="rId4"/>
    <p:sldId id="260" r:id="rId5"/>
    <p:sldId id="261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howGuides="1">
      <p:cViewPr varScale="1">
        <p:scale>
          <a:sx n="100" d="100"/>
          <a:sy n="100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50499-B7C9-4F95-B178-AC07C09E105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8F634-2DCF-43F2-B0EC-497B65FD6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4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921398-D59C-F446-89D5-5E7096A9AC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Date</a:t>
            </a:r>
          </a:p>
        </p:txBody>
      </p:sp>
    </p:spTree>
    <p:extLst>
      <p:ext uri="{BB962C8B-B14F-4D97-AF65-F5344CB8AC3E}">
        <p14:creationId xmlns:p14="http://schemas.microsoft.com/office/powerpoint/2010/main" val="266482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82446" y="4353865"/>
            <a:ext cx="484909" cy="273844"/>
          </a:xfrm>
        </p:spPr>
        <p:txBody>
          <a:bodyPr/>
          <a:lstStyle/>
          <a:p>
            <a:fld id="{135A9134-9E12-4854-BB1F-FE6418D1257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0858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31658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028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3429002"/>
            <a:ext cx="8229599" cy="897731"/>
          </a:xfrm>
        </p:spPr>
        <p:txBody>
          <a:bodyPr anchor="t">
            <a:normAutofit/>
          </a:bodyPr>
          <a:lstStyle>
            <a:lvl1pPr algn="l">
              <a:defRPr sz="36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3" y="2180035"/>
            <a:ext cx="8229599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7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008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28750"/>
            <a:ext cx="4038600" cy="31658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28750"/>
            <a:ext cx="4038600" cy="31658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7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28750"/>
            <a:ext cx="4043363" cy="685800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rgbClr val="3B557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1701"/>
            <a:ext cx="4040188" cy="24229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428750"/>
            <a:ext cx="4038600" cy="685800"/>
          </a:xfrm>
        </p:spPr>
        <p:txBody>
          <a:bodyPr anchor="t" anchorCtr="0"/>
          <a:lstStyle>
            <a:lvl1pPr marL="0" indent="0">
              <a:buNone/>
              <a:defRPr sz="2400" b="1">
                <a:solidFill>
                  <a:srgbClr val="3B557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1701"/>
            <a:ext cx="4041775" cy="24229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8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1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4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0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9F7CE-BC24-9487-21EB-EAC3B584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E9BA2-84C8-7B4A-9DB5-ED0D47845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06A5C21-26C4-6834-D72E-D13E30FB9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COA | CORS | CORA ANNUAL MEETING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CB0973D-E15E-8C10-BBCF-ACFEABF7C6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3B0584-F4D1-A147-800B-407251DADC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3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8F2F3D-E7BF-D749-968D-4BB50E1D740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0858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28750"/>
            <a:ext cx="8229600" cy="316587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0" y="4353865"/>
            <a:ext cx="60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3B557A"/>
                </a:solidFill>
              </a:defRPr>
            </a:lvl1pPr>
          </a:lstStyle>
          <a:p>
            <a:fld id="{135A9134-9E12-4854-BB1F-FE6418D125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5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61" r:id="rId10"/>
  </p:sldLayoutIdLst>
  <p:hf hdr="0" ftr="0" dt="0"/>
  <p:txStyles>
    <p:titleStyle>
      <a:lvl1pPr algn="l" defTabSz="914400" rtl="0" eaLnBrk="1" latinLnBrk="0" hangingPunct="1">
        <a:spcBef>
          <a:spcPts val="0"/>
        </a:spcBef>
        <a:buNone/>
        <a:defRPr sz="3200" b="1" kern="1200">
          <a:solidFill>
            <a:srgbClr val="3B557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ts val="0"/>
        </a:spcBef>
        <a:spcAft>
          <a:spcPts val="1200"/>
        </a:spcAft>
        <a:buClr>
          <a:srgbClr val="3B557A"/>
        </a:buClr>
        <a:buFont typeface="Arial" pitchFamily="34" charset="0"/>
        <a:buChar char="•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3B557A"/>
        </a:buClr>
        <a:buFont typeface="Arial" pitchFamily="34" charset="0"/>
        <a:buChar char="•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3B557A"/>
        </a:buClr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3B557A"/>
        </a:buClr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3B557A"/>
        </a:buClr>
        <a:buFont typeface="Arial" pitchFamily="34" charset="0"/>
        <a:buChar char="•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Return-to-Play ≠ Return-to-Form</a:t>
            </a:r>
            <a:br>
              <a:rPr lang="en-US" dirty="0"/>
            </a:br>
            <a:r>
              <a:rPr lang="en-US" sz="2000" b="0" dirty="0"/>
              <a:t>Database Study of 2,335 Footballers</a:t>
            </a:r>
            <a:endParaRPr lang="en-US" b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700339"/>
            <a:ext cx="8686800" cy="1314450"/>
          </a:xfrm>
        </p:spPr>
        <p:txBody>
          <a:bodyPr>
            <a:normAutofit/>
          </a:bodyPr>
          <a:lstStyle/>
          <a:p>
            <a:r>
              <a:rPr lang="en-US" sz="1400" i="1" dirty="0"/>
              <a:t>Return-to-Play and Performance Recovery in European Footballers: Are Players Truly Back to Form?</a:t>
            </a:r>
          </a:p>
          <a:p>
            <a:r>
              <a:rPr lang="en-US" sz="1200" dirty="0"/>
              <a:t>Varun Jain MSc, Praveen Sritharan MD</a:t>
            </a:r>
          </a:p>
        </p:txBody>
      </p:sp>
    </p:spTree>
    <p:extLst>
      <p:ext uri="{BB962C8B-B14F-4D97-AF65-F5344CB8AC3E}">
        <p14:creationId xmlns:p14="http://schemas.microsoft.com/office/powerpoint/2010/main" val="4009206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99E544-D1E9-CDAC-1DD4-25EBD952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473870"/>
          </a:xfrm>
        </p:spPr>
        <p:txBody>
          <a:bodyPr>
            <a:noAutofit/>
          </a:bodyPr>
          <a:lstStyle/>
          <a:p>
            <a:r>
              <a:rPr lang="en-US" dirty="0"/>
              <a:t>Presenter Relationship Disclosure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27533B-337A-C23A-4FE6-6AA8F5C38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69" y="895350"/>
            <a:ext cx="8155781" cy="3890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75" b="1" dirty="0"/>
              <a:t>Presenter Name: </a:t>
            </a:r>
            <a:r>
              <a:rPr lang="en-US" sz="1575" dirty="0">
                <a:solidFill>
                  <a:srgbClr val="FF0000"/>
                </a:solidFill>
              </a:rPr>
              <a:t>Varun Jain</a:t>
            </a:r>
          </a:p>
          <a:p>
            <a:endParaRPr lang="en-US" sz="1575" b="1" dirty="0"/>
          </a:p>
          <a:p>
            <a:pPr>
              <a:buNone/>
            </a:pPr>
            <a:r>
              <a:rPr lang="en-US" sz="1575" b="1" dirty="0"/>
              <a:t>Relationships with financial sponsors in the past two years: </a:t>
            </a:r>
          </a:p>
          <a:p>
            <a:pPr marL="771525" lvl="1" indent="-257175"/>
            <a:r>
              <a:rPr lang="en-US" sz="1575" dirty="0">
                <a:solidFill>
                  <a:schemeClr val="tx2"/>
                </a:solidFill>
              </a:rPr>
              <a:t>Any direct financial relationships including receipt of honoraria: </a:t>
            </a:r>
            <a:r>
              <a:rPr lang="en-US" sz="1575" dirty="0">
                <a:solidFill>
                  <a:srgbClr val="FF0000"/>
                </a:solidFill>
              </a:rPr>
              <a:t>N/A</a:t>
            </a:r>
          </a:p>
          <a:p>
            <a:pPr marL="771525" lvl="1" indent="-257175"/>
            <a:r>
              <a:rPr lang="en-US" sz="157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Funded grants or clinical trials: </a:t>
            </a:r>
            <a:r>
              <a:rPr lang="en-US" sz="1575" dirty="0">
                <a:solidFill>
                  <a:srgbClr val="FF0000"/>
                </a:solidFill>
              </a:rPr>
              <a:t>N/A</a:t>
            </a:r>
          </a:p>
          <a:p>
            <a:pPr marL="771525" lvl="1" indent="-257175"/>
            <a:r>
              <a:rPr lang="en-US" sz="157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Memberships on advisory boards or speakers’ bureau: </a:t>
            </a:r>
            <a:r>
              <a:rPr lang="en-US" sz="1575" dirty="0">
                <a:solidFill>
                  <a:srgbClr val="FF0000"/>
                </a:solidFill>
              </a:rPr>
              <a:t>N/A</a:t>
            </a:r>
          </a:p>
          <a:p>
            <a:pPr marL="771525" lvl="1" indent="-257175"/>
            <a:r>
              <a:rPr lang="en-US" sz="157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Patents for drugs or devices: </a:t>
            </a:r>
            <a:r>
              <a:rPr lang="en-US" sz="1575" dirty="0">
                <a:solidFill>
                  <a:srgbClr val="FF0000"/>
                </a:solidFill>
              </a:rPr>
              <a:t>N/A</a:t>
            </a:r>
          </a:p>
          <a:p>
            <a:pPr marL="771525" lvl="1" indent="-257175"/>
            <a:r>
              <a:rPr lang="en-US" sz="1575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Other: </a:t>
            </a:r>
            <a:r>
              <a:rPr lang="en-US" sz="1575" dirty="0">
                <a:solidFill>
                  <a:srgbClr val="FF0000"/>
                </a:solidFill>
              </a:rPr>
              <a:t>N/A</a:t>
            </a:r>
          </a:p>
          <a:p>
            <a:pPr marL="771525" lvl="1" indent="-257175"/>
            <a:endParaRPr lang="en-US" sz="1575" dirty="0">
              <a:solidFill>
                <a:srgbClr val="FF0000"/>
              </a:solidFill>
            </a:endParaRPr>
          </a:p>
          <a:p>
            <a:pPr marL="114300" indent="0">
              <a:buNone/>
            </a:pPr>
            <a:r>
              <a:rPr lang="en-US" sz="1580" b="1" dirty="0"/>
              <a:t>Any other Financial Disclosures: </a:t>
            </a:r>
            <a:r>
              <a:rPr lang="en-US" sz="1580" dirty="0">
                <a:solidFill>
                  <a:srgbClr val="FF0000"/>
                </a:solidFill>
              </a:rPr>
              <a:t>No Disclosures</a:t>
            </a:r>
          </a:p>
          <a:p>
            <a:pPr marL="114300" indent="0">
              <a:buNone/>
            </a:pPr>
            <a:endParaRPr lang="en-US" sz="1800" b="1" dirty="0"/>
          </a:p>
          <a:p>
            <a:pPr marL="771525" lvl="1" indent="-257175"/>
            <a:endParaRPr lang="en-US" sz="1575" dirty="0">
              <a:solidFill>
                <a:srgbClr val="FF0000"/>
              </a:solidFill>
            </a:endParaRPr>
          </a:p>
          <a:p>
            <a:pPr>
              <a:buNone/>
            </a:pPr>
            <a:endParaRPr lang="en-US" sz="1425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DCAFA1-DD58-A18C-3FDF-46BFA1519B6E}"/>
              </a:ext>
            </a:extLst>
          </p:cNvPr>
          <p:cNvSpPr txBox="1">
            <a:spLocks/>
          </p:cNvSpPr>
          <p:nvPr/>
        </p:nvSpPr>
        <p:spPr>
          <a:xfrm>
            <a:off x="8382000" y="4353865"/>
            <a:ext cx="609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35A9134-9E12-4854-BB1F-FE6418D12572}" type="slidenum">
              <a:rPr lang="en-US" sz="1200" smtClean="0"/>
              <a:pPr algn="r"/>
              <a:t>2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9937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971550"/>
            <a:ext cx="3200400" cy="3623072"/>
          </a:xfrm>
        </p:spPr>
        <p:txBody>
          <a:bodyPr>
            <a:normAutofit/>
          </a:bodyPr>
          <a:lstStyle/>
          <a:p>
            <a:r>
              <a:rPr lang="en-US" sz="1600" dirty="0"/>
              <a:t>Knee injuries are among the most common and career-impacting injuries in professional football</a:t>
            </a:r>
          </a:p>
          <a:p>
            <a:r>
              <a:rPr lang="en-CA" sz="1600" dirty="0"/>
              <a:t>RTP timelines are well-documented, </a:t>
            </a:r>
            <a:r>
              <a:rPr lang="en-US" sz="1600" dirty="0"/>
              <a:t>but whether players regain their pre-injury performance remains largely unstudied</a:t>
            </a:r>
            <a:endParaRPr lang="en-CA" sz="16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E5668B9-C556-B5FC-52EF-73E709DA21E2}"/>
              </a:ext>
            </a:extLst>
          </p:cNvPr>
          <p:cNvSpPr txBox="1">
            <a:spLocks/>
          </p:cNvSpPr>
          <p:nvPr/>
        </p:nvSpPr>
        <p:spPr>
          <a:xfrm>
            <a:off x="457200" y="239566"/>
            <a:ext cx="8229600" cy="55245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spcBef>
                <a:spcPts val="0"/>
              </a:spcBef>
              <a:buNone/>
              <a:defRPr sz="3200" b="1" kern="1200">
                <a:solidFill>
                  <a:srgbClr val="3B557A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/>
              <a:t>Background &amp; Methods</a:t>
            </a:r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6AF99FC-4C50-C497-B1D4-3D712708D0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412" t="4161" r="9412" b="14927"/>
          <a:stretch>
            <a:fillRect/>
          </a:stretch>
        </p:blipFill>
        <p:spPr>
          <a:xfrm>
            <a:off x="3810000" y="818686"/>
            <a:ext cx="5257800" cy="369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23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207B2-9398-7AF8-22A2-CB294D17A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812F2B-F213-B59A-6C8E-F74C3C72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721690-C757-EF97-2B93-1B999C05F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9566"/>
            <a:ext cx="8229600" cy="55245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5579AC5A-028D-CB4F-F1AE-741FF564C8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8202" y="792016"/>
            <a:ext cx="4343400" cy="325755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07C2F8A-AE4F-8D3E-4734-6E0F1E65E1AD}"/>
              </a:ext>
            </a:extLst>
          </p:cNvPr>
          <p:cNvSpPr txBox="1">
            <a:spLocks/>
          </p:cNvSpPr>
          <p:nvPr/>
        </p:nvSpPr>
        <p:spPr>
          <a:xfrm>
            <a:off x="457199" y="971550"/>
            <a:ext cx="3962401" cy="362307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1200"/>
              </a:spcAft>
              <a:buClr>
                <a:srgbClr val="3B557A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3B557A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3B557A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3B557A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3B557A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600" dirty="0"/>
              <a:t>Median return: </a:t>
            </a:r>
            <a:r>
              <a:rPr lang="en-CA" sz="1600" b="1" dirty="0"/>
              <a:t>95 days</a:t>
            </a:r>
          </a:p>
          <a:p>
            <a:r>
              <a:rPr lang="en-CA" sz="1600" b="1" dirty="0"/>
              <a:t>65%</a:t>
            </a:r>
            <a:r>
              <a:rPr lang="en-CA" sz="1600" dirty="0"/>
              <a:t> returned by 6 months </a:t>
            </a:r>
          </a:p>
          <a:p>
            <a:r>
              <a:rPr lang="en-CA" sz="1600" b="1" dirty="0"/>
              <a:t>96%</a:t>
            </a:r>
            <a:r>
              <a:rPr lang="en-CA" sz="1600" dirty="0"/>
              <a:t> returned by 12 months</a:t>
            </a:r>
          </a:p>
          <a:p>
            <a:pPr>
              <a:spcAft>
                <a:spcPts val="0"/>
              </a:spcAft>
            </a:pPr>
            <a:r>
              <a:rPr lang="en-CA" sz="1600" dirty="0"/>
              <a:t>Slowest-recovering injuries: </a:t>
            </a:r>
          </a:p>
          <a:p>
            <a:pPr lvl="1"/>
            <a:r>
              <a:rPr lang="en-CA" sz="1400" dirty="0"/>
              <a:t>Cruciate ligament tears</a:t>
            </a:r>
          </a:p>
          <a:p>
            <a:pPr lvl="1"/>
            <a:r>
              <a:rPr lang="en-CA" sz="1400" dirty="0"/>
              <a:t>Chondral and osteochondral injuries</a:t>
            </a:r>
          </a:p>
          <a:p>
            <a:pPr lvl="1"/>
            <a:r>
              <a:rPr lang="en-CA" sz="1400" dirty="0"/>
              <a:t>Patellar tendon rupture</a:t>
            </a:r>
          </a:p>
          <a:p>
            <a:pPr marL="457200" lvl="1" indent="0">
              <a:buNone/>
            </a:pPr>
            <a:endParaRPr lang="en-CA" sz="1400" dirty="0"/>
          </a:p>
          <a:p>
            <a:r>
              <a:rPr lang="en-CA" sz="1600" dirty="0"/>
              <a:t>RTP did not differ by playing position (all positions ≈65% at 6mo, ≈96% at 12mo)</a:t>
            </a:r>
          </a:p>
        </p:txBody>
      </p:sp>
    </p:spTree>
    <p:extLst>
      <p:ext uri="{BB962C8B-B14F-4D97-AF65-F5344CB8AC3E}">
        <p14:creationId xmlns:p14="http://schemas.microsoft.com/office/powerpoint/2010/main" val="102434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07D02-7ABC-8359-3C51-AC37465A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90269F-6B03-C99B-3B1B-545A71F5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A9134-9E12-4854-BB1F-FE6418D12572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972972-D4A3-54A7-1B96-B7C247F5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9566"/>
            <a:ext cx="8229600" cy="552450"/>
          </a:xfrm>
        </p:spPr>
        <p:txBody>
          <a:bodyPr/>
          <a:lstStyle/>
          <a:p>
            <a:r>
              <a:rPr lang="en-US" dirty="0"/>
              <a:t>Results &amp; Clinical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4902C-4DE1-194D-BD55-1F5E1A9D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55714"/>
            <a:ext cx="4114800" cy="3165872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CA" sz="1600" dirty="0"/>
              <a:t>RTP did </a:t>
            </a:r>
            <a:r>
              <a:rPr lang="en-CA" sz="1600" b="1" dirty="0"/>
              <a:t>not</a:t>
            </a:r>
            <a:r>
              <a:rPr lang="en-CA" sz="1600" dirty="0"/>
              <a:t> equal return-to-form:</a:t>
            </a:r>
          </a:p>
          <a:p>
            <a:pPr lvl="1">
              <a:spcAft>
                <a:spcPts val="1200"/>
              </a:spcAft>
            </a:pPr>
            <a:r>
              <a:rPr lang="en-CA" sz="1400" dirty="0"/>
              <a:t>Performance remained </a:t>
            </a:r>
            <a:r>
              <a:rPr lang="en-CA" sz="1400" b="1" dirty="0"/>
              <a:t>0.10 pts (0.26 SD)</a:t>
            </a:r>
            <a:r>
              <a:rPr lang="en-CA" sz="1400" dirty="0"/>
              <a:t> below baseline after 2 yrs</a:t>
            </a:r>
            <a:endParaRPr lang="en-CA" sz="1600" dirty="0"/>
          </a:p>
          <a:p>
            <a:r>
              <a:rPr lang="en-CA" sz="1600" dirty="0"/>
              <a:t>Counsel players (and clubs)</a:t>
            </a:r>
            <a:r>
              <a:rPr lang="en-US" sz="1600" dirty="0"/>
              <a:t>: clinical recovery does not guarantee performance recovery</a:t>
            </a:r>
          </a:p>
          <a:p>
            <a:pPr marL="0" indent="0">
              <a:buNone/>
            </a:pPr>
            <a:r>
              <a:rPr lang="en-CA" sz="1700" b="1" dirty="0"/>
              <a:t> Return-to-play ≠ return-to-form</a:t>
            </a:r>
          </a:p>
        </p:txBody>
      </p:sp>
      <p:pic>
        <p:nvPicPr>
          <p:cNvPr id="5" name="Content Placeholder 8">
            <a:extLst>
              <a:ext uri="{FF2B5EF4-FFF2-40B4-BE49-F238E27FC236}">
                <a16:creationId xmlns:a16="http://schemas.microsoft.com/office/drawing/2014/main" id="{2AE8E66B-4557-BFEC-69B0-BDD40DD498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76800" y="895350"/>
            <a:ext cx="3962400" cy="285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2646E7-38A7-A300-85EA-FB60E156D7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8" y="3296551"/>
            <a:ext cx="1103934" cy="11039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D3DD6E-DECF-9477-C9BD-4055CFA9D784}"/>
              </a:ext>
            </a:extLst>
          </p:cNvPr>
          <p:cNvSpPr txBox="1"/>
          <p:nvPr/>
        </p:nvSpPr>
        <p:spPr>
          <a:xfrm>
            <a:off x="1885950" y="3386853"/>
            <a:ext cx="26555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Scan to view Detailed Results and Individual Player Data</a:t>
            </a:r>
            <a:endParaRPr lang="en-CA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7DB4C5-45F5-547F-683A-09C29034C315}"/>
              </a:ext>
            </a:extLst>
          </p:cNvPr>
          <p:cNvSpPr/>
          <p:nvPr/>
        </p:nvSpPr>
        <p:spPr>
          <a:xfrm>
            <a:off x="457200" y="3181350"/>
            <a:ext cx="4038600" cy="1309437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3055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T Orthopaedics">
      <a:dk1>
        <a:sysClr val="windowText" lastClr="000000"/>
      </a:dk1>
      <a:lt1>
        <a:sysClr val="window" lastClr="FFFFFF"/>
      </a:lt1>
      <a:dk2>
        <a:srgbClr val="3B557A"/>
      </a:dk2>
      <a:lt2>
        <a:srgbClr val="DBE5F1"/>
      </a:lt2>
      <a:accent1>
        <a:srgbClr val="416BA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387E6"/>
      </a:hlink>
      <a:folHlink>
        <a:srgbClr val="E6620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11164</TotalTime>
  <Words>241</Words>
  <Application>Microsoft Office PowerPoint</Application>
  <PresentationFormat>On-screen Show (16:9)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Verdana</vt:lpstr>
      <vt:lpstr>Office Theme</vt:lpstr>
      <vt:lpstr>Return-to-Play ≠ Return-to-Form Database Study of 2,335 Footballers</vt:lpstr>
      <vt:lpstr>Presenter Relationship Disclosure</vt:lpstr>
      <vt:lpstr>PowerPoint Presentation</vt:lpstr>
      <vt:lpstr>Results</vt:lpstr>
      <vt:lpstr>Results &amp; Clinical Implications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Lena</dc:creator>
  <cp:lastModifiedBy>Varun Jain</cp:lastModifiedBy>
  <cp:revision>26</cp:revision>
  <dcterms:created xsi:type="dcterms:W3CDTF">2018-11-27T03:24:56Z</dcterms:created>
  <dcterms:modified xsi:type="dcterms:W3CDTF">2026-06-11T12:26:09Z</dcterms:modified>
</cp:coreProperties>
</file>